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23"/>
  </p:notesMasterIdLst>
  <p:handoutMasterIdLst>
    <p:handoutMasterId r:id="rId24"/>
  </p:handoutMasterIdLst>
  <p:sldIdLst>
    <p:sldId id="312" r:id="rId5"/>
    <p:sldId id="304" r:id="rId6"/>
    <p:sldId id="281" r:id="rId7"/>
    <p:sldId id="282" r:id="rId8"/>
    <p:sldId id="323" r:id="rId9"/>
    <p:sldId id="324" r:id="rId10"/>
    <p:sldId id="327" r:id="rId11"/>
    <p:sldId id="326" r:id="rId12"/>
    <p:sldId id="325" r:id="rId13"/>
    <p:sldId id="328" r:id="rId14"/>
    <p:sldId id="330" r:id="rId15"/>
    <p:sldId id="331" r:id="rId16"/>
    <p:sldId id="329" r:id="rId17"/>
    <p:sldId id="332" r:id="rId18"/>
    <p:sldId id="333" r:id="rId19"/>
    <p:sldId id="319" r:id="rId20"/>
    <p:sldId id="334" r:id="rId21"/>
    <p:sldId id="297" r:id="rId22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CDCE"/>
    <a:srgbClr val="202C8F"/>
    <a:srgbClr val="FDFBF6"/>
    <a:srgbClr val="AAC4E9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388" autoAdjust="0"/>
  </p:normalViewPr>
  <p:slideViewPr>
    <p:cSldViewPr snapToGrid="0" snapToObjects="1">
      <p:cViewPr varScale="1">
        <p:scale>
          <a:sx n="66" d="100"/>
          <a:sy n="66" d="100"/>
        </p:scale>
        <p:origin x="668" y="44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2231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1567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1468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387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4051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0434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8297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9833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2812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7283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7643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9344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4796" y="810227"/>
            <a:ext cx="8730113" cy="3831221"/>
          </a:xfrm>
        </p:spPr>
        <p:txBody>
          <a:bodyPr anchor="ctr"/>
          <a:lstStyle/>
          <a:p>
            <a:r>
              <a:rPr lang="en-US" dirty="0">
                <a:highlight>
                  <a:srgbClr val="F5CDCE"/>
                </a:highlight>
              </a:rPr>
              <a:t>Purchase pattern Analysis</a:t>
            </a:r>
            <a:br>
              <a:rPr lang="en-US" dirty="0">
                <a:highlight>
                  <a:srgbClr val="F5CDCE"/>
                </a:highlight>
              </a:rPr>
            </a:br>
            <a:br>
              <a:rPr lang="en-US" dirty="0">
                <a:highlight>
                  <a:srgbClr val="F5CDCE"/>
                </a:highlight>
              </a:rPr>
            </a:br>
            <a:r>
              <a:rPr lang="en-US" sz="1600" dirty="0">
                <a:highlight>
                  <a:srgbClr val="F5CDCE"/>
                </a:highlight>
              </a:rPr>
              <a:t>Market Basket analysis using apriori algorithm</a:t>
            </a:r>
            <a:br>
              <a:rPr lang="en-US" dirty="0"/>
            </a:br>
            <a:br>
              <a:rPr lang="en-US" dirty="0"/>
            </a:br>
            <a:r>
              <a:rPr lang="en-US" sz="1600" dirty="0"/>
              <a:t>PTID-CDA-APR-26-1290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Kumari Akanksha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384" y="211756"/>
            <a:ext cx="6930190" cy="1029901"/>
          </a:xfrm>
        </p:spPr>
        <p:txBody>
          <a:bodyPr/>
          <a:lstStyle/>
          <a:p>
            <a:r>
              <a:rPr lang="en-US" sz="2800" dirty="0"/>
              <a:t>Business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241658"/>
            <a:ext cx="6198669" cy="5178393"/>
          </a:xfrm>
        </p:spPr>
        <p:txBody>
          <a:bodyPr>
            <a:normAutofit/>
          </a:bodyPr>
          <a:lstStyle/>
          <a:p>
            <a:endParaRPr lang="en-US" sz="1800" dirty="0"/>
          </a:p>
          <a:p>
            <a:r>
              <a:rPr lang="en-US" sz="2000" dirty="0"/>
              <a:t>The challenge is to analyze retail transaction dataset to unveil relationships between products. This includes understanding customer purchasing behavior, identifying frequently co-occurring products, and deriving actionable recommendations to enhance sales strategies and customer satisfaction.</a:t>
            </a:r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1057275"/>
            <a:ext cx="6256421" cy="559769"/>
          </a:xfrm>
        </p:spPr>
        <p:txBody>
          <a:bodyPr/>
          <a:lstStyle/>
          <a:p>
            <a:r>
              <a:rPr lang="en-US" sz="2800" dirty="0"/>
              <a:t>Project 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851" y="1935126"/>
            <a:ext cx="10930269" cy="454010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Perform exploratory data analysis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Clean and transform transaction data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Implement Apriori algorithm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Generate business recommendation</a:t>
            </a:r>
          </a:p>
          <a:p>
            <a:endParaRPr lang="en-US" sz="2000" dirty="0"/>
          </a:p>
          <a:p>
            <a:r>
              <a:rPr lang="en-US" sz="2800" dirty="0">
                <a:solidFill>
                  <a:srgbClr val="C00000"/>
                </a:solidFill>
              </a:rPr>
              <a:t>The Stack: </a:t>
            </a:r>
          </a:p>
          <a:p>
            <a:endParaRPr lang="en-US" sz="2000" dirty="0"/>
          </a:p>
          <a:p>
            <a:r>
              <a:rPr lang="en-US" sz="2000" b="1" dirty="0"/>
              <a:t>Data Layer</a:t>
            </a:r>
            <a:r>
              <a:rPr lang="en-US" sz="2000" dirty="0"/>
              <a:t>: MySQL</a:t>
            </a:r>
          </a:p>
          <a:p>
            <a:r>
              <a:rPr lang="en-US" sz="2000" b="1" dirty="0"/>
              <a:t>Processing &amp; Modeling: </a:t>
            </a:r>
            <a:r>
              <a:rPr lang="en-US" sz="2000" dirty="0"/>
              <a:t>Python (pandas, </a:t>
            </a:r>
            <a:r>
              <a:rPr lang="en-US" sz="2000" dirty="0" err="1"/>
              <a:t>mlxtend</a:t>
            </a:r>
            <a:r>
              <a:rPr lang="en-US" sz="2000" dirty="0"/>
              <a:t> - Apriori Algorithm)</a:t>
            </a:r>
          </a:p>
          <a:p>
            <a:r>
              <a:rPr lang="en-US" sz="2000" b="1" dirty="0"/>
              <a:t>Business Intelligence</a:t>
            </a:r>
            <a:r>
              <a:rPr lang="en-US" sz="2000" dirty="0"/>
              <a:t>: Power BI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/>
          <a:lstStyle/>
          <a:p>
            <a:endParaRPr lang="en-US" b="1" dirty="0"/>
          </a:p>
          <a:p>
            <a:r>
              <a:rPr lang="en-US" b="1" dirty="0"/>
              <a:t>Table</a:t>
            </a:r>
            <a:r>
              <a:rPr lang="en-US" dirty="0"/>
              <a:t> : </a:t>
            </a:r>
            <a:r>
              <a:rPr lang="en-US" dirty="0" err="1"/>
              <a:t>Mytable</a:t>
            </a:r>
            <a:endParaRPr lang="en-US" dirty="0"/>
          </a:p>
          <a:p>
            <a:r>
              <a:rPr lang="en-US" b="1" dirty="0"/>
              <a:t>Database</a:t>
            </a:r>
            <a:r>
              <a:rPr lang="en-US" dirty="0"/>
              <a:t> : </a:t>
            </a:r>
            <a:r>
              <a:rPr lang="en-US" dirty="0" err="1"/>
              <a:t>Purchase_pattern_analysis</a:t>
            </a:r>
            <a:endParaRPr lang="en-US" b="1" dirty="0"/>
          </a:p>
          <a:p>
            <a:r>
              <a:rPr lang="en-US" b="1" dirty="0"/>
              <a:t>Columns</a:t>
            </a:r>
            <a:r>
              <a:rPr lang="en-US" dirty="0"/>
              <a:t> : </a:t>
            </a:r>
            <a:r>
              <a:rPr lang="en-US" dirty="0" err="1"/>
              <a:t>BillNo</a:t>
            </a:r>
            <a:r>
              <a:rPr lang="en-US" dirty="0"/>
              <a:t> , </a:t>
            </a:r>
            <a:r>
              <a:rPr lang="en-US" dirty="0" err="1"/>
              <a:t>Itemname</a:t>
            </a:r>
            <a:r>
              <a:rPr lang="en-US" dirty="0"/>
              <a:t> , Quantity , Date , Price , </a:t>
            </a:r>
            <a:r>
              <a:rPr lang="en-US" dirty="0" err="1"/>
              <a:t>CustomerID</a:t>
            </a:r>
            <a:r>
              <a:rPr lang="en-US" dirty="0"/>
              <a:t> , Country</a:t>
            </a:r>
          </a:p>
          <a:p>
            <a:r>
              <a:rPr lang="en-US" dirty="0"/>
              <a:t>Retail Transaction data</a:t>
            </a:r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C7EFF41A-FF05-40FF-9406-3FBC8A462C6F}"/>
              </a:ext>
            </a:extLst>
          </p:cNvPr>
          <p:cNvSpPr txBox="1">
            <a:spLocks/>
          </p:cNvSpPr>
          <p:nvPr/>
        </p:nvSpPr>
        <p:spPr>
          <a:xfrm>
            <a:off x="1066799" y="558266"/>
            <a:ext cx="6256421" cy="499008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/>
              <a:t>Project Workflow</a:t>
            </a:r>
            <a:endParaRPr lang="en-US" sz="28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1A35501-F3A0-427E-8231-33EBE9CB5F18}"/>
              </a:ext>
            </a:extLst>
          </p:cNvPr>
          <p:cNvSpPr txBox="1">
            <a:spLocks/>
          </p:cNvSpPr>
          <p:nvPr/>
        </p:nvSpPr>
        <p:spPr>
          <a:xfrm>
            <a:off x="441158" y="1366787"/>
            <a:ext cx="11465293" cy="577514"/>
          </a:xfrm>
          <a:prstGeom prst="rect">
            <a:avLst/>
          </a:prstGeom>
        </p:spPr>
        <p:txBody>
          <a:bodyPr/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[1. Data Ingestion ]        [2. Pipeline &amp; EDA]	  [3. Modelling(Apriori) ]	  [4. Data Export ]	     [5. BI &amp; Insights ] </a:t>
            </a:r>
          </a:p>
          <a:p>
            <a:pPr marL="0" indent="0">
              <a:buNone/>
            </a:pPr>
            <a:r>
              <a:rPr lang="en-US" sz="1800" dirty="0"/>
              <a:t> 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A3DBD6E-7E5B-4736-A334-3C499B345679}"/>
              </a:ext>
            </a:extLst>
          </p:cNvPr>
          <p:cNvCxnSpPr/>
          <p:nvPr/>
        </p:nvCxnSpPr>
        <p:spPr>
          <a:xfrm>
            <a:off x="2444817" y="1578544"/>
            <a:ext cx="27913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02AA5A5-A5CE-4C95-B9E2-2B9A1BE59461}"/>
              </a:ext>
            </a:extLst>
          </p:cNvPr>
          <p:cNvCxnSpPr/>
          <p:nvPr/>
        </p:nvCxnSpPr>
        <p:spPr>
          <a:xfrm>
            <a:off x="4868780" y="1578544"/>
            <a:ext cx="27913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2D003B7-6BB4-4BA6-8C4D-24452356E6FE}"/>
              </a:ext>
            </a:extLst>
          </p:cNvPr>
          <p:cNvCxnSpPr/>
          <p:nvPr/>
        </p:nvCxnSpPr>
        <p:spPr>
          <a:xfrm>
            <a:off x="7631229" y="1578544"/>
            <a:ext cx="27913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7BF6FF8-DD26-4FA4-AC18-62F59E37F99F}"/>
              </a:ext>
            </a:extLst>
          </p:cNvPr>
          <p:cNvCxnSpPr/>
          <p:nvPr/>
        </p:nvCxnSpPr>
        <p:spPr>
          <a:xfrm>
            <a:off x="9614034" y="1578544"/>
            <a:ext cx="27913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9" name="Table 19">
            <a:extLst>
              <a:ext uri="{FF2B5EF4-FFF2-40B4-BE49-F238E27FC236}">
                <a16:creationId xmlns:a16="http://schemas.microsoft.com/office/drawing/2014/main" id="{0EC7C3DB-D24C-46CA-9746-EB4DFB1DA7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7232003"/>
              </p:ext>
            </p:extLst>
          </p:nvPr>
        </p:nvGraphicFramePr>
        <p:xfrm>
          <a:off x="365759" y="1944301"/>
          <a:ext cx="11540691" cy="47548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439205">
                  <a:extLst>
                    <a:ext uri="{9D8B030D-6E8A-4147-A177-3AD203B41FA5}">
                      <a16:colId xmlns:a16="http://schemas.microsoft.com/office/drawing/2014/main" val="3146470519"/>
                    </a:ext>
                  </a:extLst>
                </a:gridCol>
                <a:gridCol w="2458719">
                  <a:extLst>
                    <a:ext uri="{9D8B030D-6E8A-4147-A177-3AD203B41FA5}">
                      <a16:colId xmlns:a16="http://schemas.microsoft.com/office/drawing/2014/main" val="3186620494"/>
                    </a:ext>
                  </a:extLst>
                </a:gridCol>
                <a:gridCol w="2494279">
                  <a:extLst>
                    <a:ext uri="{9D8B030D-6E8A-4147-A177-3AD203B41FA5}">
                      <a16:colId xmlns:a16="http://schemas.microsoft.com/office/drawing/2014/main" val="1735934027"/>
                    </a:ext>
                  </a:extLst>
                </a:gridCol>
                <a:gridCol w="2079057">
                  <a:extLst>
                    <a:ext uri="{9D8B030D-6E8A-4147-A177-3AD203B41FA5}">
                      <a16:colId xmlns:a16="http://schemas.microsoft.com/office/drawing/2014/main" val="1553750251"/>
                    </a:ext>
                  </a:extLst>
                </a:gridCol>
                <a:gridCol w="2069431">
                  <a:extLst>
                    <a:ext uri="{9D8B030D-6E8A-4147-A177-3AD203B41FA5}">
                      <a16:colId xmlns:a16="http://schemas.microsoft.com/office/drawing/2014/main" val="697258076"/>
                    </a:ext>
                  </a:extLst>
                </a:gridCol>
              </a:tblGrid>
              <a:tr h="4591253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Connected directly to production MySQL Database.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Extracted raw historical transactional records (Invoice IDs, Product Descriptions, Quantities, and Timestamps).</a:t>
                      </a:r>
                      <a:endParaRPr lang="en-US" b="0" dirty="0">
                        <a:highlight>
                          <a:srgbClr val="0000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8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Established Python-MySQL pipeline using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mysql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-connector 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8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Conducted data cleaning (null handling) , outlier detection on transaction volumes.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8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Performed (EDA) to identify top-selling items and purchase trends.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>
                        <a:highlight>
                          <a:srgbClr val="000000"/>
                        </a:highlight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Implemented the Apriori Algorithm to extract frequent itemset.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8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Generated Association Rules to uncover hidden product relationships.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8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Evaluated rules based on key statistical metrics: Support, Confidence, and Lift.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>
                        <a:highlight>
                          <a:srgbClr val="000000"/>
                        </a:highlight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Processed, transformed, and structured the final association rules matrix in Python.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8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Extracted the clean, high-value data into a optimized CSV file format, ready for business intelligence tools.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Imported the processed CSV into Power BI.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Built an dashboard visualizing product clusters and rule strengths.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Translated data patterns into actionable business insights (e.g., cross-selling strategies, shelf placement, and bundling).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091835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2057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4E65BC1C-C170-422B-A416-30921109996A}"/>
              </a:ext>
            </a:extLst>
          </p:cNvPr>
          <p:cNvSpPr txBox="1">
            <a:spLocks/>
          </p:cNvSpPr>
          <p:nvPr/>
        </p:nvSpPr>
        <p:spPr>
          <a:xfrm>
            <a:off x="1219199" y="710666"/>
            <a:ext cx="9318860" cy="499008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Data Cleaning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D3495C1E-53A6-4908-A3BC-40407F64F5FB}"/>
              </a:ext>
            </a:extLst>
          </p:cNvPr>
          <p:cNvSpPr txBox="1">
            <a:spLocks/>
          </p:cNvSpPr>
          <p:nvPr/>
        </p:nvSpPr>
        <p:spPr>
          <a:xfrm>
            <a:off x="548640" y="1520792"/>
            <a:ext cx="11088303" cy="5130265"/>
          </a:xfrm>
          <a:prstGeom prst="rect">
            <a:avLst/>
          </a:prstGeom>
        </p:spPr>
        <p:txBody>
          <a:bodyPr/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Handle missing customer ID , null values of itemnames</a:t>
            </a: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 datatype of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BillNo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, Customer ID column from int to str</a:t>
            </a: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Standardized date format</a:t>
            </a: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Removed Duplicate records</a:t>
            </a: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Removed invalid quantities , itemnames , prices , missing dates</a:t>
            </a: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F92C69D-08D8-4BF3-A686-32A137AAE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2952" y="546184"/>
            <a:ext cx="4270408" cy="132697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1820F6C-02BE-471A-A822-B96663014C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057" y="4917418"/>
            <a:ext cx="6369377" cy="173363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A7CEF77-5902-4B5A-B8F0-3F074C28F6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9" y="1873163"/>
            <a:ext cx="4097947" cy="2794144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B99DD386-2D94-424E-843D-0271167DAD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2730" y="4667307"/>
            <a:ext cx="3930852" cy="1326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361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4E65BC1C-C170-422B-A416-30921109996A}"/>
              </a:ext>
            </a:extLst>
          </p:cNvPr>
          <p:cNvSpPr txBox="1">
            <a:spLocks/>
          </p:cNvSpPr>
          <p:nvPr/>
        </p:nvSpPr>
        <p:spPr>
          <a:xfrm>
            <a:off x="1219199" y="710666"/>
            <a:ext cx="9318860" cy="499008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Exploratory data analysis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D3495C1E-53A6-4908-A3BC-40407F64F5FB}"/>
              </a:ext>
            </a:extLst>
          </p:cNvPr>
          <p:cNvSpPr txBox="1">
            <a:spLocks/>
          </p:cNvSpPr>
          <p:nvPr/>
        </p:nvSpPr>
        <p:spPr>
          <a:xfrm>
            <a:off x="548640" y="1520792"/>
            <a:ext cx="11088303" cy="5130265"/>
          </a:xfrm>
          <a:prstGeom prst="rect">
            <a:avLst/>
          </a:prstGeom>
        </p:spPr>
        <p:txBody>
          <a:bodyPr/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Outlier Detection performed on huge quantity entered manually</a:t>
            </a: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Country wise sales trend explored</a:t>
            </a: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Transaction size analyzed</a:t>
            </a: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selling products identified</a:t>
            </a: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engineering [ created revenue column , date columns ] </a:t>
            </a: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3E38AC-E754-48D9-9825-8A74A11DA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51" y="1330217"/>
            <a:ext cx="5206949" cy="36364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251C46-B717-49A9-A4CB-2247B05CB7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51" y="5037122"/>
            <a:ext cx="4750044" cy="1225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357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4E65BC1C-C170-422B-A416-30921109996A}"/>
              </a:ext>
            </a:extLst>
          </p:cNvPr>
          <p:cNvSpPr txBox="1">
            <a:spLocks/>
          </p:cNvSpPr>
          <p:nvPr/>
        </p:nvSpPr>
        <p:spPr>
          <a:xfrm>
            <a:off x="1219199" y="710666"/>
            <a:ext cx="9318860" cy="499008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Market Basket Analysis Using apriori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D3495C1E-53A6-4908-A3BC-40407F64F5FB}"/>
              </a:ext>
            </a:extLst>
          </p:cNvPr>
          <p:cNvSpPr txBox="1">
            <a:spLocks/>
          </p:cNvSpPr>
          <p:nvPr/>
        </p:nvSpPr>
        <p:spPr>
          <a:xfrm>
            <a:off x="548640" y="1520792"/>
            <a:ext cx="11088303" cy="5130265"/>
          </a:xfrm>
          <a:prstGeom prst="rect">
            <a:avLst/>
          </a:prstGeom>
        </p:spPr>
        <p:txBody>
          <a:bodyPr/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Market Basket Analysis (MBA) is a data mining technique used to uncover relationships between items that customers purchase together. Retailers use these insights for cross-selling, product bundling, and optimizing store layouts  </a:t>
            </a: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800" dirty="0">
                <a:highlight>
                  <a:srgbClr val="F5CDCE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the Apriori Algorithm Works :</a:t>
            </a:r>
          </a:p>
          <a:p>
            <a:pPr marL="0" indent="0"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algorithm uses a "bottom-up" approach, which states that if an itemset is frequent, all its subsets must also be frequent. </a:t>
            </a: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Set Thresholds: Define a minimum Support and Confidence.</a:t>
            </a:r>
          </a:p>
          <a:p>
            <a:pPr marL="0" indent="0"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Join Step: Generate frequent 1-itemsets then combine them to create 2-itemsets, 3-itemsets, and so on.</a:t>
            </a:r>
          </a:p>
          <a:p>
            <a:pPr marL="0" indent="0"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Prune Step: Discard any itemset that falls below the minimum Support threshold to save computational time.</a:t>
            </a:r>
          </a:p>
          <a:p>
            <a:pPr marL="0" indent="0"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Rule Generation: From the final frequent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itemsets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generate association rules that meet the minimum Confidence threshold</a:t>
            </a: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156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C7EFF41A-FF05-40FF-9406-3FBC8A462C6F}"/>
              </a:ext>
            </a:extLst>
          </p:cNvPr>
          <p:cNvSpPr txBox="1">
            <a:spLocks/>
          </p:cNvSpPr>
          <p:nvPr/>
        </p:nvSpPr>
        <p:spPr>
          <a:xfrm>
            <a:off x="1066799" y="558266"/>
            <a:ext cx="7432308" cy="499008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Association rule framework</a:t>
            </a:r>
          </a:p>
        </p:txBody>
      </p:sp>
      <p:graphicFrame>
        <p:nvGraphicFramePr>
          <p:cNvPr id="19" name="Table 19">
            <a:extLst>
              <a:ext uri="{FF2B5EF4-FFF2-40B4-BE49-F238E27FC236}">
                <a16:creationId xmlns:a16="http://schemas.microsoft.com/office/drawing/2014/main" id="{0EC7C3DB-D24C-46CA-9746-EB4DFB1DA7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502791"/>
              </p:ext>
            </p:extLst>
          </p:nvPr>
        </p:nvGraphicFramePr>
        <p:xfrm>
          <a:off x="654518" y="1289785"/>
          <a:ext cx="10857298" cy="513763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94093">
                  <a:extLst>
                    <a:ext uri="{9D8B030D-6E8A-4147-A177-3AD203B41FA5}">
                      <a16:colId xmlns:a16="http://schemas.microsoft.com/office/drawing/2014/main" val="3146470519"/>
                    </a:ext>
                  </a:extLst>
                </a:gridCol>
                <a:gridCol w="5799732">
                  <a:extLst>
                    <a:ext uri="{9D8B030D-6E8A-4147-A177-3AD203B41FA5}">
                      <a16:colId xmlns:a16="http://schemas.microsoft.com/office/drawing/2014/main" val="3186620494"/>
                    </a:ext>
                  </a:extLst>
                </a:gridCol>
                <a:gridCol w="3663473">
                  <a:extLst>
                    <a:ext uri="{9D8B030D-6E8A-4147-A177-3AD203B41FA5}">
                      <a16:colId xmlns:a16="http://schemas.microsoft.com/office/drawing/2014/main" val="1735934027"/>
                    </a:ext>
                  </a:extLst>
                </a:gridCol>
              </a:tblGrid>
              <a:tr h="34651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Metric Type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b="1" kern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Definition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b="1" kern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Applied threshold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183569"/>
                  </a:ext>
                </a:extLst>
              </a:tr>
              <a:tr h="1590625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Support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Probability that the choose items are bought together</a:t>
                      </a:r>
                    </a:p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endParaRPr lang="en-US" sz="18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Support (A) = Transactions containing A</a:t>
                      </a:r>
                    </a:p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                          Total Transactions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&gt;= 2.0 % of total transactions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3822475"/>
                  </a:ext>
                </a:extLst>
              </a:tr>
              <a:tr h="1590625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Confidence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Likelihood that item B is bought if item A is in the basket</a:t>
                      </a:r>
                    </a:p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endParaRPr lang="en-US" sz="18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Confidence (A -&gt; B) = Support (A     B )</a:t>
                      </a:r>
                    </a:p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                                      Support (A)                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&gt;= 50% probability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93869058"/>
                  </a:ext>
                </a:extLst>
              </a:tr>
              <a:tr h="1590625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Lift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Strength of rule over independent purchase assumptions</a:t>
                      </a:r>
                    </a:p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endParaRPr lang="en-US" sz="18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Lift ( A -&gt; B) = Confidence (A -&gt; B)</a:t>
                      </a:r>
                    </a:p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                          Support (B)</a:t>
                      </a:r>
                    </a:p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endParaRPr lang="en-US" sz="18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&gt;= 2 score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13692721"/>
                  </a:ext>
                </a:extLst>
              </a:tr>
            </a:tbl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C3E9525-89A4-4904-AF61-586EAABC864B}"/>
              </a:ext>
            </a:extLst>
          </p:cNvPr>
          <p:cNvCxnSpPr/>
          <p:nvPr/>
        </p:nvCxnSpPr>
        <p:spPr>
          <a:xfrm>
            <a:off x="3390278" y="2531443"/>
            <a:ext cx="243519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1048223-361D-4218-9A20-2A1CA339DA1B}"/>
              </a:ext>
            </a:extLst>
          </p:cNvPr>
          <p:cNvSpPr/>
          <p:nvPr/>
        </p:nvSpPr>
        <p:spPr>
          <a:xfrm>
            <a:off x="5204049" y="3911777"/>
            <a:ext cx="130684" cy="167535"/>
          </a:xfrm>
          <a:custGeom>
            <a:avLst/>
            <a:gdLst>
              <a:gd name="connsiteX0" fmla="*/ 5405 w 130684"/>
              <a:gd name="connsiteY0" fmla="*/ 148284 h 167535"/>
              <a:gd name="connsiteX1" fmla="*/ 15030 w 130684"/>
              <a:gd name="connsiteY1" fmla="*/ 13531 h 167535"/>
              <a:gd name="connsiteX2" fmla="*/ 111283 w 130684"/>
              <a:gd name="connsiteY2" fmla="*/ 23156 h 167535"/>
              <a:gd name="connsiteX3" fmla="*/ 130533 w 130684"/>
              <a:gd name="connsiteY3" fmla="*/ 167535 h 167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0684" h="167535">
                <a:moveTo>
                  <a:pt x="5405" y="148284"/>
                </a:moveTo>
                <a:cubicBezTo>
                  <a:pt x="8613" y="103366"/>
                  <a:pt x="-14058" y="47908"/>
                  <a:pt x="15030" y="13531"/>
                </a:cubicBezTo>
                <a:cubicBezTo>
                  <a:pt x="35858" y="-11084"/>
                  <a:pt x="87514" y="1368"/>
                  <a:pt x="111283" y="23156"/>
                </a:cubicBezTo>
                <a:cubicBezTo>
                  <a:pt x="133679" y="43686"/>
                  <a:pt x="130533" y="131528"/>
                  <a:pt x="130533" y="167535"/>
                </a:cubicBezTo>
              </a:path>
            </a:pathLst>
          </a:cu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2CF0B28-45A5-4BDC-BA69-086B07721504}"/>
              </a:ext>
            </a:extLst>
          </p:cNvPr>
          <p:cNvCxnSpPr/>
          <p:nvPr/>
        </p:nvCxnSpPr>
        <p:spPr>
          <a:xfrm>
            <a:off x="4129238" y="4089242"/>
            <a:ext cx="158816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B03C7E1-ACF1-40FD-A3A6-813F205214A1}"/>
              </a:ext>
            </a:extLst>
          </p:cNvPr>
          <p:cNvCxnSpPr/>
          <p:nvPr/>
        </p:nvCxnSpPr>
        <p:spPr>
          <a:xfrm>
            <a:off x="3349592" y="5707781"/>
            <a:ext cx="192723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4545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4E65BC1C-C170-422B-A416-30921109996A}"/>
              </a:ext>
            </a:extLst>
          </p:cNvPr>
          <p:cNvSpPr txBox="1">
            <a:spLocks/>
          </p:cNvSpPr>
          <p:nvPr/>
        </p:nvSpPr>
        <p:spPr>
          <a:xfrm>
            <a:off x="1219199" y="710666"/>
            <a:ext cx="9318860" cy="499008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Market Basket Analysis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D3495C1E-53A6-4908-A3BC-40407F64F5FB}"/>
              </a:ext>
            </a:extLst>
          </p:cNvPr>
          <p:cNvSpPr txBox="1">
            <a:spLocks/>
          </p:cNvSpPr>
          <p:nvPr/>
        </p:nvSpPr>
        <p:spPr>
          <a:xfrm>
            <a:off x="548640" y="1520792"/>
            <a:ext cx="11088303" cy="5130265"/>
          </a:xfrm>
          <a:prstGeom prst="rect">
            <a:avLst/>
          </a:prstGeom>
        </p:spPr>
        <p:txBody>
          <a:bodyPr/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transaction product matrix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Applied one hot encoding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Generated frequent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itemsets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(apriori algorithm)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Calculated support, confidence ,lift (association rules)</a:t>
            </a: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8F2F6A-149A-4AAF-B63B-62ADEDB07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410" y="3263434"/>
            <a:ext cx="10000649" cy="3522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794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4E65BC1C-C170-422B-A416-30921109996A}"/>
              </a:ext>
            </a:extLst>
          </p:cNvPr>
          <p:cNvSpPr txBox="1">
            <a:spLocks/>
          </p:cNvSpPr>
          <p:nvPr/>
        </p:nvSpPr>
        <p:spPr>
          <a:xfrm>
            <a:off x="1219199" y="710666"/>
            <a:ext cx="9318860" cy="499008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Interactive dashboard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D3495C1E-53A6-4908-A3BC-40407F64F5FB}"/>
              </a:ext>
            </a:extLst>
          </p:cNvPr>
          <p:cNvSpPr txBox="1">
            <a:spLocks/>
          </p:cNvSpPr>
          <p:nvPr/>
        </p:nvSpPr>
        <p:spPr>
          <a:xfrm>
            <a:off x="463362" y="1421487"/>
            <a:ext cx="11265276" cy="734571"/>
          </a:xfrm>
          <a:prstGeom prst="rect">
            <a:avLst/>
          </a:prstGeom>
        </p:spPr>
        <p:txBody>
          <a:bodyPr/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Designed a responsive business reporting panel by connecting processed CSV data into a detail dashboard. Enables executive team to see products that can be recommended in cross-selling , bundling , shelf placement.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053E97-EF0E-418C-9B70-FAA55A9A0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79" y="2156058"/>
            <a:ext cx="4419898" cy="18336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BD5EF9-883F-4F2F-A048-D7F42E1499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156058"/>
            <a:ext cx="4509691" cy="175174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A7A45AF-C608-4CAF-A531-5462DE5FCD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879" y="4152758"/>
            <a:ext cx="4419898" cy="25675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8C160A-C12B-4E28-863A-0EFC6E1C32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4152757"/>
            <a:ext cx="4509692" cy="2603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456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4E65BC1C-C170-422B-A416-30921109996A}"/>
              </a:ext>
            </a:extLst>
          </p:cNvPr>
          <p:cNvSpPr txBox="1">
            <a:spLocks/>
          </p:cNvSpPr>
          <p:nvPr/>
        </p:nvSpPr>
        <p:spPr>
          <a:xfrm>
            <a:off x="1219199" y="710666"/>
            <a:ext cx="9318860" cy="499008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Dashboard Overview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D3495C1E-53A6-4908-A3BC-40407F64F5FB}"/>
              </a:ext>
            </a:extLst>
          </p:cNvPr>
          <p:cNvSpPr txBox="1">
            <a:spLocks/>
          </p:cNvSpPr>
          <p:nvPr/>
        </p:nvSpPr>
        <p:spPr>
          <a:xfrm>
            <a:off x="463361" y="2528110"/>
            <a:ext cx="11265276" cy="818707"/>
          </a:xfrm>
          <a:prstGeom prst="rect">
            <a:avLst/>
          </a:prstGeom>
        </p:spPr>
        <p:txBody>
          <a:bodyPr/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chemeClr val="accent6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Highlight core data health metrics—Total Unique Transactions Analyzed, Distinct Products, Total revenue and Total product pair Generated above minimum thresholds.</a:t>
            </a: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A32A40-F115-4491-81C3-6FFF75538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266" y="1337264"/>
            <a:ext cx="10085467" cy="11720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69111E-2554-4BA8-AB93-DBDB2EA58C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07" y="3607203"/>
            <a:ext cx="6280015" cy="2804230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9BB3905-F076-42DB-80A7-4F8AD218E67B}"/>
              </a:ext>
            </a:extLst>
          </p:cNvPr>
          <p:cNvSpPr txBox="1">
            <a:spLocks/>
          </p:cNvSpPr>
          <p:nvPr/>
        </p:nvSpPr>
        <p:spPr>
          <a:xfrm>
            <a:off x="7464056" y="4589335"/>
            <a:ext cx="4011737" cy="1250708"/>
          </a:xfrm>
          <a:prstGeom prst="rect">
            <a:avLst/>
          </a:prstGeom>
        </p:spPr>
        <p:txBody>
          <a:bodyPr/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chemeClr val="accent6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Nov &amp; Dec contributes the most revenue</a:t>
            </a: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1564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4E65BC1C-C170-422B-A416-30921109996A}"/>
              </a:ext>
            </a:extLst>
          </p:cNvPr>
          <p:cNvSpPr txBox="1">
            <a:spLocks/>
          </p:cNvSpPr>
          <p:nvPr/>
        </p:nvSpPr>
        <p:spPr>
          <a:xfrm>
            <a:off x="1219199" y="710666"/>
            <a:ext cx="9318860" cy="499008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Highest Lift Associations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D3495C1E-53A6-4908-A3BC-40407F64F5FB}"/>
              </a:ext>
            </a:extLst>
          </p:cNvPr>
          <p:cNvSpPr txBox="1">
            <a:spLocks/>
          </p:cNvSpPr>
          <p:nvPr/>
        </p:nvSpPr>
        <p:spPr>
          <a:xfrm>
            <a:off x="635268" y="5531475"/>
            <a:ext cx="11265276" cy="734571"/>
          </a:xfrm>
          <a:prstGeom prst="rect">
            <a:avLst/>
          </a:prstGeom>
        </p:spPr>
        <p:txBody>
          <a:bodyPr/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 high lift score indicates that these items are purchase together significantly more often than expected if they were random choices, representing direct natural bundle patterns</a:t>
            </a: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A9A1E0-B852-4851-BBE5-548795D95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240" y="1326525"/>
            <a:ext cx="10478194" cy="408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834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4E65BC1C-C170-422B-A416-30921109996A}"/>
              </a:ext>
            </a:extLst>
          </p:cNvPr>
          <p:cNvSpPr txBox="1">
            <a:spLocks/>
          </p:cNvSpPr>
          <p:nvPr/>
        </p:nvSpPr>
        <p:spPr>
          <a:xfrm>
            <a:off x="1219199" y="212651"/>
            <a:ext cx="9318860" cy="697614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Explains rule strength: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D3495C1E-53A6-4908-A3BC-40407F64F5FB}"/>
              </a:ext>
            </a:extLst>
          </p:cNvPr>
          <p:cNvSpPr txBox="1">
            <a:spLocks/>
          </p:cNvSpPr>
          <p:nvPr/>
        </p:nvSpPr>
        <p:spPr>
          <a:xfrm>
            <a:off x="463361" y="5092995"/>
            <a:ext cx="11265276" cy="1765005"/>
          </a:xfrm>
          <a:prstGeom prst="rect">
            <a:avLst/>
          </a:prstGeom>
        </p:spPr>
        <p:txBody>
          <a:bodyPr/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b="1" dirty="0">
              <a:solidFill>
                <a:schemeClr val="accent6">
                  <a:lumMod val="50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accent6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X-Axis (Confidence): Predictive certainty 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accent6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Y-Axis (Lift): The strength of the rule compared to random chance. 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accent6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Size (support): Operational frequency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accent6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Color : Product pair recommendation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D49142-BE76-445E-BE10-A0063FE2A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871" y="910265"/>
            <a:ext cx="10812924" cy="4182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990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4E65BC1C-C170-422B-A416-30921109996A}"/>
              </a:ext>
            </a:extLst>
          </p:cNvPr>
          <p:cNvSpPr txBox="1">
            <a:spLocks/>
          </p:cNvSpPr>
          <p:nvPr/>
        </p:nvSpPr>
        <p:spPr>
          <a:xfrm>
            <a:off x="1219199" y="212651"/>
            <a:ext cx="9318860" cy="765544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Antecedent vs. Consequent Matrix: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D3495C1E-53A6-4908-A3BC-40407F64F5FB}"/>
              </a:ext>
            </a:extLst>
          </p:cNvPr>
          <p:cNvSpPr txBox="1">
            <a:spLocks/>
          </p:cNvSpPr>
          <p:nvPr/>
        </p:nvSpPr>
        <p:spPr>
          <a:xfrm>
            <a:off x="463361" y="5380074"/>
            <a:ext cx="11265276" cy="1127052"/>
          </a:xfrm>
          <a:prstGeom prst="rect">
            <a:avLst/>
          </a:prstGeom>
        </p:spPr>
        <p:txBody>
          <a:bodyPr/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b="1" dirty="0">
              <a:solidFill>
                <a:schemeClr val="accent6">
                  <a:lumMod val="50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accent6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 clean grid that lets retail category managers pick an item on the left based on support, confidence , lift metrics.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6D26C4-F336-4E53-ADE7-F6ADC54071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89" y="1165010"/>
            <a:ext cx="11108748" cy="421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6430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888" y="0"/>
            <a:ext cx="3117131" cy="467833"/>
          </a:xfrm>
        </p:spPr>
        <p:txBody>
          <a:bodyPr/>
          <a:lstStyle/>
          <a:p>
            <a:r>
              <a:rPr lang="en-US" sz="2400" dirty="0"/>
              <a:t>Key insights :</a:t>
            </a:r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013C8A2F-BE4D-4AD5-9F7E-18A3DC7ADD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7977611"/>
              </p:ext>
            </p:extLst>
          </p:nvPr>
        </p:nvGraphicFramePr>
        <p:xfrm>
          <a:off x="0" y="570810"/>
          <a:ext cx="12192000" cy="6287191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4156709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88081031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830930721"/>
                    </a:ext>
                  </a:extLst>
                </a:gridCol>
              </a:tblGrid>
              <a:tr h="52932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Product</a:t>
                      </a:r>
                      <a:r>
                        <a:rPr lang="en-US" dirty="0"/>
                        <a:t> Category Cluster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Patterns Found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Statistical Evidence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877904"/>
                  </a:ext>
                </a:extLst>
              </a:tr>
              <a:tr h="1894674">
                <a:tc>
                  <a:txBody>
                    <a:bodyPr/>
                    <a:lstStyle/>
                    <a:p>
                      <a:r>
                        <a:rPr lang="en-US" dirty="0"/>
                        <a:t>The Regency Teacup Collection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Green, Pink, and Roses Regency Teacup and Saucers</a:t>
                      </a:r>
                      <a:r>
                        <a:rPr lang="en-US" dirty="0"/>
                        <a:t> have massive co-purchase affinity. When bought with a </a:t>
                      </a:r>
                      <a:r>
                        <a:rPr lang="en-US" b="1" dirty="0"/>
                        <a:t>Regency 3-Tier Cake stand</a:t>
                      </a:r>
                      <a:r>
                        <a:rPr lang="en-US" dirty="0"/>
                        <a:t>, buying confidence spikes significantly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78% to 79% Confidence</a:t>
                      </a:r>
                      <a:endParaRPr lang="en-US" dirty="0"/>
                    </a:p>
                    <a:p>
                      <a:br>
                        <a:rPr lang="en-US" dirty="0"/>
                      </a:br>
                      <a:r>
                        <a:rPr lang="en-US" b="1" dirty="0"/>
                        <a:t>Lift up to 17x</a:t>
                      </a:r>
                      <a:r>
                        <a:rPr lang="en-US" dirty="0"/>
                        <a:t> higher than random chance.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85991817"/>
                  </a:ext>
                </a:extLst>
              </a:tr>
              <a:tr h="1696743">
                <a:tc>
                  <a:txBody>
                    <a:bodyPr/>
                    <a:lstStyle/>
                    <a:p>
                      <a:r>
                        <a:rPr lang="en-US" dirty="0"/>
                        <a:t>The Alarm Clock Bake like Series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Customers buying one color variant (</a:t>
                      </a:r>
                      <a:r>
                        <a:rPr lang="en-US" b="1"/>
                        <a:t>Green</a:t>
                      </a:r>
                      <a:r>
                        <a:rPr lang="en-US"/>
                        <a:t>) are highly likely to simultaneously purchase alternative colors (</a:t>
                      </a:r>
                      <a:r>
                        <a:rPr lang="en-US" b="1"/>
                        <a:t>Red</a:t>
                      </a:r>
                      <a:r>
                        <a:rPr lang="en-US"/>
                        <a:t> or </a:t>
                      </a:r>
                      <a:r>
                        <a:rPr lang="en-US" b="1"/>
                        <a:t>Pink</a:t>
                      </a:r>
                      <a:r>
                        <a:rPr lang="en-US"/>
                        <a:t>).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62% to 66% Confidence</a:t>
                      </a:r>
                      <a:endParaRPr lang="en-US" dirty="0"/>
                    </a:p>
                    <a:p>
                      <a:br>
                        <a:rPr lang="en-US" dirty="0"/>
                      </a:br>
                      <a:r>
                        <a:rPr lang="en-US" b="1" dirty="0"/>
                        <a:t>Lift: 10x to 11x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82633036"/>
                  </a:ext>
                </a:extLst>
              </a:tr>
              <a:tr h="1224514">
                <a:tc>
                  <a:txBody>
                    <a:bodyPr/>
                    <a:lstStyle/>
                    <a:p>
                      <a:r>
                        <a:rPr lang="en-US" b="0" dirty="0"/>
                        <a:t>The Jumbo Storage Bag Line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Jumbo Bag Pink Polkadot</a:t>
                      </a:r>
                      <a:r>
                        <a:rPr lang="en-US" dirty="0"/>
                        <a:t> and </a:t>
                      </a:r>
                      <a:r>
                        <a:rPr lang="en-US" b="1" dirty="0"/>
                        <a:t>Vintage Red Paisley</a:t>
                      </a:r>
                      <a:r>
                        <a:rPr lang="en-US" dirty="0"/>
                        <a:t> strongly drive the purchase of the flagship </a:t>
                      </a:r>
                      <a:r>
                        <a:rPr lang="en-US" b="1" dirty="0"/>
                        <a:t>Jumbo Bag Red Retrospot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80% to 81% Confidence</a:t>
                      </a:r>
                      <a:endParaRPr lang="en-US" dirty="0"/>
                    </a:p>
                    <a:p>
                      <a:br>
                        <a:rPr lang="en-US" dirty="0"/>
                      </a:br>
                      <a:r>
                        <a:rPr lang="en-US" b="1" dirty="0"/>
                        <a:t>Lift: 7x to 8x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14537314"/>
                  </a:ext>
                </a:extLst>
              </a:tr>
              <a:tr h="941934">
                <a:tc>
                  <a:txBody>
                    <a:bodyPr/>
                    <a:lstStyle/>
                    <a:p>
                      <a:r>
                        <a:rPr lang="en-US" b="0" dirty="0"/>
                        <a:t>The Charlotte Gift Bag Collection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Multi-buying behavior observed across thematic patterns (</a:t>
                      </a:r>
                      <a:r>
                        <a:rPr lang="en-US" b="1" dirty="0"/>
                        <a:t>Pink Polkadot</a:t>
                      </a:r>
                      <a:r>
                        <a:rPr lang="en-US" dirty="0"/>
                        <a:t>, </a:t>
                      </a:r>
                      <a:r>
                        <a:rPr lang="en-US" b="1" dirty="0"/>
                        <a:t>Suki Design</a:t>
                      </a:r>
                      <a:r>
                        <a:rPr lang="en-US" dirty="0"/>
                        <a:t>, </a:t>
                      </a:r>
                      <a:r>
                        <a:rPr lang="en-US" b="1" dirty="0"/>
                        <a:t>Red Retrospot</a:t>
                      </a:r>
                      <a:r>
                        <a:rPr lang="en-US" dirty="0"/>
                        <a:t>).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55% to 70% Confidence</a:t>
                      </a:r>
                      <a:endParaRPr lang="en-US" dirty="0"/>
                    </a:p>
                    <a:p>
                      <a:br>
                        <a:rPr lang="en-US" dirty="0"/>
                      </a:br>
                      <a:r>
                        <a:rPr lang="en-US" b="1" dirty="0"/>
                        <a:t>Lift: 11x to 13x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37717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888" y="0"/>
            <a:ext cx="5870963" cy="467833"/>
          </a:xfrm>
        </p:spPr>
        <p:txBody>
          <a:bodyPr/>
          <a:lstStyle/>
          <a:p>
            <a:r>
              <a:rPr lang="en-US" sz="2400" dirty="0"/>
              <a:t>Business Recommendations: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7FCC862-DC7D-49C8-811E-AFE93F21DB02}"/>
              </a:ext>
            </a:extLst>
          </p:cNvPr>
          <p:cNvSpPr txBox="1">
            <a:spLocks/>
          </p:cNvSpPr>
          <p:nvPr/>
        </p:nvSpPr>
        <p:spPr>
          <a:xfrm>
            <a:off x="1477925" y="648587"/>
            <a:ext cx="10250711" cy="6209414"/>
          </a:xfrm>
          <a:prstGeom prst="rect">
            <a:avLst/>
          </a:prstGeom>
        </p:spPr>
        <p:txBody>
          <a:bodyPr/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Smart Product Bundling (Increase Average Order Value):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"High-Tea" Bundle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Create an all-in-one "Regency Tea Party Set" containing the 3-Tier Cake stand along with the Green and Roses Teacups. Price the bundle slightly lower than individual items combined to liquidate inventory of slower-moving variants.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Color-Way Bundle: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Offer a "Mix &amp; Match Alarm Clock Duo" discount. Since there is a 62% confidence that a Green clock buyer will buy a Red one, incentivize the second unit at a 15% discount.</a:t>
            </a:r>
          </a:p>
          <a:p>
            <a:pPr marL="342900" indent="-342900">
              <a:buAutoNum type="arabicPeriod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Tactical Cross-Selling &amp; Digital UX Carousels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Configure the e-commerce recommendation engine so that when a user adds a Charlotte Bag Pink Polkadot to their online cart, the Red Retrospot Charlotte Bag automatically populates as a "Frequently Bought Together" pop-up.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High-Confidence triggers: Use the 80% confidence rule on Jumbo bags to trigger post-purchase email flows or checkout-page upsells.</a:t>
            </a: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Physical Shelf Placement (Brick &amp; Mortar):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Anchor Strategy: Place the highly popular Regency 3-Tier Cakestand as an eye-level aisle anchor, flanked immediately to the left and right by the Green, Pink, and Roses Teacup collections.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Thematic Vertical Ribboning: Display the Charlotte Gift Bag variations vertically adjacent to one another, making it seamless for a customer to grab multiple matching or complementary designs.</a:t>
            </a:r>
          </a:p>
        </p:txBody>
      </p:sp>
    </p:spTree>
    <p:extLst>
      <p:ext uri="{BB962C8B-B14F-4D97-AF65-F5344CB8AC3E}">
        <p14:creationId xmlns:p14="http://schemas.microsoft.com/office/powerpoint/2010/main" val="37150960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265018" cy="2727709"/>
          </a:xfrm>
        </p:spPr>
        <p:txBody>
          <a:bodyPr/>
          <a:lstStyle/>
          <a:p>
            <a:r>
              <a:rPr lang="en-US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{4CECB86B-9E2C-4BB0-BC69-3132C2321AEF}TF8a9b5915-b8c7-461e-8cdd-693d48b5e32371f7b7e2_win32-4bf0b9a2ea37</Template>
  <TotalTime>476</TotalTime>
  <Words>1254</Words>
  <Application>Microsoft Office PowerPoint</Application>
  <PresentationFormat>Widescreen</PresentationFormat>
  <Paragraphs>157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Arial Black</vt:lpstr>
      <vt:lpstr>Calibri</vt:lpstr>
      <vt:lpstr>Calibri Light</vt:lpstr>
      <vt:lpstr>Sabon Next LT</vt:lpstr>
      <vt:lpstr>Custom</vt:lpstr>
      <vt:lpstr>Purchase pattern Analysis  Market Basket analysis using apriori algorithm  PTID-CDA-APR-26-1290  Kumari Akanksha</vt:lpstr>
      <vt:lpstr>Business problem statement</vt:lpstr>
      <vt:lpstr>Project Objectives</vt:lpstr>
      <vt:lpstr>Dataset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insights :</vt:lpstr>
      <vt:lpstr>Business Recommendations: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Purchase pattern Analysis  PTID-CDA-APR-26-1290  Kumari Akanksha</dc:title>
  <dc:subject/>
  <dc:creator>Abhay Singh</dc:creator>
  <cp:lastModifiedBy>Abhay Singh</cp:lastModifiedBy>
  <cp:revision>34</cp:revision>
  <dcterms:created xsi:type="dcterms:W3CDTF">2026-05-26T15:42:21Z</dcterms:created>
  <dcterms:modified xsi:type="dcterms:W3CDTF">2026-05-28T14:48:42Z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